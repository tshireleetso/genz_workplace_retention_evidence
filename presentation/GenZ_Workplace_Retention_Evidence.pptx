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04F"/>
          </a:solidFill>
          <a:ln w="12700">
            <a:solidFill>
              <a:srgbClr val="1630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 Z WORKPLACE RETENTION | EVIDENCE REVIEW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555480" y="21945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Published evidence only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solidFill>
            <a:srgbClr val="1FA7A5">
              <a:alpha val="28000"/>
            </a:srgbClr>
          </a:solidFill>
          <a:ln w="12700">
            <a:solidFill>
              <a:srgbClr val="1FA7A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5074920"/>
            <a:ext cx="3200400" cy="3200400"/>
          </a:xfrm>
          <a:prstGeom prst="ellipse">
            <a:avLst/>
          </a:prstGeom>
          <a:solidFill>
            <a:srgbClr val="F26B5B">
              <a:alpha val="22000"/>
            </a:srgbClr>
          </a:solidFill>
          <a:ln w="12700">
            <a:solidFill>
              <a:srgbClr val="F26B5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32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FE0EC"/>
                </a:solidFill>
              </a:rPr>
              <a:t>WORKFORCE EVIDENCE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353312"/>
            <a:ext cx="9966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evidence says about the Gen Z workplace disconnect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713232" y="3127248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E3ED"/>
                </a:solidFill>
              </a:rPr>
              <a:t>South African labour-market pressure, development expectations, employer concerns and career preferences. Each figure remains tied to its original source and population.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4315968"/>
            <a:ext cx="2743200" cy="438912"/>
          </a:xfrm>
          <a:prstGeom prst="roundRect">
            <a:avLst>
              <a:gd name="adj" fmla="val 208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4256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Published figures only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5870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7E5"/>
                </a:solidFill>
              </a:rPr>
              <a:t>Prepared by Sphamandla Nkosi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61722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2D2"/>
                </a:solidFill>
              </a:rPr>
              <a:t>Starting brief: IOL Cape Argus, 24 June 2026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7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at a glance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586"/>
                </a:solidFill>
              </a:rPr>
              <a:t>The Excel view keeps the populations separate while bringing the main signals onto one page.</a:t>
            </a:r>
            <a:endParaRPr lang="en-US" sz="1050" dirty="0"/>
          </a:p>
        </p:txBody>
      </p:sp>
      <p:pic>
        <p:nvPicPr>
          <p:cNvPr id="4" name="Image 0" descr="/mnt/data/genz_retention_evidence/assets/dashboard_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10991088" cy="4681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0352" y="6473952"/>
            <a:ext cx="10652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7B8794"/>
                </a:solidFill>
              </a:rPr>
              <a:t>Sources shown in workbook: Statistics South Africa; Deloitte South Africa; Deloitte Global; Intelligent.com.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7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South African youth enter work under significant labour-market pressure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586"/>
                </a:solidFill>
              </a:rPr>
              <a:t>Q1 2026 indicators from Statistics South Africa.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21792" y="1481328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82496"/>
            <a:ext cx="100584" cy="100584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3677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697586"/>
                </a:solidFill>
              </a:rPr>
              <a:t>SOUTH AFRICA · Q1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6B5B"/>
                </a:solidFill>
              </a:rPr>
              <a:t>60.9%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0665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73B"/>
                </a:solidFill>
              </a:rPr>
              <a:t>Unemployment, age 15–24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273552" y="1481328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E2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682496"/>
            <a:ext cx="100584" cy="100584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163677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697586"/>
                </a:solidFill>
              </a:rPr>
              <a:t>SOUTH AFRICA · Q1 2026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4D"/>
                </a:solidFill>
              </a:rPr>
              <a:t>40.6%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2423160"/>
            <a:ext cx="20665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73B"/>
                </a:solidFill>
              </a:rPr>
              <a:t>Unemployment, age 25–34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925312" y="1481328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E2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682496"/>
            <a:ext cx="100584" cy="100584"/>
          </a:xfrm>
          <a:prstGeom prst="ellipse">
            <a:avLst/>
          </a:prstGeom>
          <a:solidFill>
            <a:srgbClr val="1FA7A5"/>
          </a:solidFill>
          <a:ln w="12700">
            <a:solidFill>
              <a:srgbClr val="1FA7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63677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697586"/>
                </a:solidFill>
              </a:rPr>
              <a:t>SOUTH AFRICA · Q1 2026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126480" y="1920240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A7A5"/>
                </a:solidFill>
              </a:rPr>
              <a:t>37.6%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26480" y="2423160"/>
            <a:ext cx="20665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73B"/>
                </a:solidFill>
              </a:rPr>
              <a:t>NEET rate, age 15–24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577072" y="1481328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E2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0" y="1682496"/>
            <a:ext cx="100584" cy="100584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42832" y="163677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697586"/>
                </a:solidFill>
              </a:rPr>
              <a:t>SOUTH AFRICA · Q1 2026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778240" y="1920240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63FF"/>
                </a:solidFill>
              </a:rPr>
              <a:t>45.6%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778240" y="2423160"/>
            <a:ext cx="20665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73B"/>
                </a:solidFill>
              </a:rPr>
              <a:t>NEET rate, age 15–34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58368" y="3246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73B"/>
                </a:solidFill>
              </a:rPr>
              <a:t>Where employed youth work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6656" y="371246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173"/>
                </a:solidFill>
              </a:rPr>
              <a:t>Trade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25496" y="3739896"/>
            <a:ext cx="2834640" cy="164592"/>
          </a:xfrm>
          <a:prstGeom prst="roundRect">
            <a:avLst>
              <a:gd name="adj" fmla="val 27778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25496" y="3739896"/>
            <a:ext cx="668975" cy="164592"/>
          </a:xfrm>
          <a:prstGeom prst="roundRect">
            <a:avLst>
              <a:gd name="adj" fmla="val 27778"/>
            </a:avLst>
          </a:prstGeom>
          <a:solidFill>
            <a:srgbClr val="16304F"/>
          </a:solidFill>
          <a:ln w="12700">
            <a:solidFill>
              <a:srgbClr val="1630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33288" y="36941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73B"/>
                </a:solidFill>
              </a:rPr>
              <a:t>23.6%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" y="4151376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173"/>
                </a:solidFill>
              </a:rPr>
              <a:t>Community &amp; social services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25496" y="4178808"/>
            <a:ext cx="2834640" cy="164592"/>
          </a:xfrm>
          <a:prstGeom prst="roundRect">
            <a:avLst>
              <a:gd name="adj" fmla="val 27778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25496" y="4178808"/>
            <a:ext cx="564093" cy="164592"/>
          </a:xfrm>
          <a:prstGeom prst="roundRect">
            <a:avLst>
              <a:gd name="adj" fmla="val 27778"/>
            </a:avLst>
          </a:prstGeom>
          <a:solidFill>
            <a:srgbClr val="1FA7A5"/>
          </a:solidFill>
          <a:ln w="12700">
            <a:solidFill>
              <a:srgbClr val="1FA7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33288" y="4133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73B"/>
                </a:solidFill>
              </a:rPr>
              <a:t>19.9%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6656" y="4590288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173"/>
                </a:solidFill>
              </a:rPr>
              <a:t>Finance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25496" y="4617720"/>
            <a:ext cx="2834640" cy="164592"/>
          </a:xfrm>
          <a:prstGeom prst="roundRect">
            <a:avLst>
              <a:gd name="adj" fmla="val 27778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25496" y="4617720"/>
            <a:ext cx="524408" cy="164592"/>
          </a:xfrm>
          <a:prstGeom prst="roundRect">
            <a:avLst>
              <a:gd name="adj" fmla="val 27778"/>
            </a:avLst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33288" y="45720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73B"/>
                </a:solidFill>
              </a:rPr>
              <a:t>18.5%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29400" y="3364992"/>
            <a:ext cx="4572000" cy="1828800"/>
          </a:xfrm>
          <a:prstGeom prst="roundRect">
            <a:avLst>
              <a:gd name="adj" fmla="val 4500"/>
            </a:avLst>
          </a:prstGeom>
          <a:solidFill>
            <a:srgbClr val="EAF0F5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1152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4F"/>
                </a:solidFill>
              </a:rPr>
              <a:t>Why this matters for retention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931152" y="4050792"/>
            <a:ext cx="3822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56C"/>
                </a:solidFill>
              </a:rPr>
              <a:t>The workplace conversation sits inside a difficult entry-level labour market. These figures do not explain why an individual leaves a job, but they provide important context for how younger workers experience risk, opportunity and career decisions.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144768"/>
            <a:ext cx="11018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97586"/>
                </a:solidFill>
              </a:rPr>
              <a:t>Context only: labour-market indicators should not be interpreted as employee-retention rates.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0352" y="6473952"/>
            <a:ext cx="10652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7B8794"/>
                </a:solidFill>
              </a:rPr>
              <a:t>Statistics South Africa — South Africa’s Youth and the Labour Market in Q1 2026 · https://www.statssa.gov.za/?p=19526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7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South African Gen Z respondents report a strong appetite for development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586"/>
                </a:solidFill>
              </a:rPr>
              <a:t>Deloitte South Africa country findings from the 2025 global survey.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94944" y="165506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173"/>
                </a:solidFill>
              </a:rPr>
              <a:t>Formal training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843784" y="1682496"/>
            <a:ext cx="3611880" cy="164592"/>
          </a:xfrm>
          <a:prstGeom prst="roundRect">
            <a:avLst>
              <a:gd name="adj" fmla="val 27778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43784" y="1682496"/>
            <a:ext cx="3539642" cy="164592"/>
          </a:xfrm>
          <a:prstGeom prst="roundRect">
            <a:avLst>
              <a:gd name="adj" fmla="val 27778"/>
            </a:avLst>
          </a:prstGeom>
          <a:solidFill>
            <a:srgbClr val="1FA7A5"/>
          </a:solidFill>
          <a:ln w="12700">
            <a:solidFill>
              <a:srgbClr val="1FA7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28816" y="16367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73B"/>
                </a:solidFill>
              </a:rPr>
              <a:t>98%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2093976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173"/>
                </a:solidFill>
              </a:rPr>
              <a:t>On-the-job learning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43784" y="2121408"/>
            <a:ext cx="3611880" cy="164592"/>
          </a:xfrm>
          <a:prstGeom prst="roundRect">
            <a:avLst>
              <a:gd name="adj" fmla="val 27778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43784" y="2121408"/>
            <a:ext cx="3503524" cy="164592"/>
          </a:xfrm>
          <a:prstGeom prst="roundRect">
            <a:avLst>
              <a:gd name="adj" fmla="val 27778"/>
            </a:avLst>
          </a:prstGeom>
          <a:solidFill>
            <a:srgbClr val="1FA7A5"/>
          </a:solidFill>
          <a:ln w="12700">
            <a:solidFill>
              <a:srgbClr val="1FA7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20756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73B"/>
                </a:solidFill>
              </a:rPr>
              <a:t>97%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" y="2532888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173"/>
                </a:solidFill>
              </a:rPr>
              <a:t>Mentorship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43784" y="2560320"/>
            <a:ext cx="3611880" cy="164592"/>
          </a:xfrm>
          <a:prstGeom prst="roundRect">
            <a:avLst>
              <a:gd name="adj" fmla="val 27778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43784" y="2560320"/>
            <a:ext cx="3503524" cy="164592"/>
          </a:xfrm>
          <a:prstGeom prst="roundRect">
            <a:avLst>
              <a:gd name="adj" fmla="val 27778"/>
            </a:avLst>
          </a:prstGeom>
          <a:solidFill>
            <a:srgbClr val="1FA7A5"/>
          </a:solidFill>
          <a:ln w="12700">
            <a:solidFill>
              <a:srgbClr val="1FA7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2514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73B"/>
                </a:solidFill>
              </a:rPr>
              <a:t>97%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4944" y="2971800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173"/>
                </a:solidFill>
              </a:rPr>
              <a:t>Feedback / performance reviews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43784" y="2999232"/>
            <a:ext cx="3611880" cy="164592"/>
          </a:xfrm>
          <a:prstGeom prst="roundRect">
            <a:avLst>
              <a:gd name="adj" fmla="val 27778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43784" y="2999232"/>
            <a:ext cx="3395167" cy="164592"/>
          </a:xfrm>
          <a:prstGeom prst="roundRect">
            <a:avLst>
              <a:gd name="adj" fmla="val 27778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2953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73B"/>
                </a:solidFill>
              </a:rPr>
              <a:t>94%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4944" y="3410712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173"/>
                </a:solidFill>
              </a:rPr>
              <a:t>Workshops / conferences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43784" y="3438144"/>
            <a:ext cx="3611880" cy="164592"/>
          </a:xfrm>
          <a:prstGeom prst="roundRect">
            <a:avLst>
              <a:gd name="adj" fmla="val 27778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43784" y="3438144"/>
            <a:ext cx="3322930" cy="164592"/>
          </a:xfrm>
          <a:prstGeom prst="roundRect">
            <a:avLst>
              <a:gd name="adj" fmla="val 27778"/>
            </a:avLst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8816" y="339242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73B"/>
                </a:solidFill>
              </a:rPr>
              <a:t>92%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944" y="384962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173"/>
                </a:solidFill>
              </a:rPr>
              <a:t>Active skill-building weekly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43784" y="3877056"/>
            <a:ext cx="3611880" cy="164592"/>
          </a:xfrm>
          <a:prstGeom prst="roundRect">
            <a:avLst>
              <a:gd name="adj" fmla="val 27778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43784" y="3877056"/>
            <a:ext cx="2492197" cy="164592"/>
          </a:xfrm>
          <a:prstGeom prst="roundRect">
            <a:avLst>
              <a:gd name="adj" fmla="val 27778"/>
            </a:avLst>
          </a:prstGeom>
          <a:solidFill>
            <a:srgbClr val="16304F"/>
          </a:solidFill>
          <a:ln w="12700">
            <a:solidFill>
              <a:srgbClr val="1630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28816" y="383133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73B"/>
                </a:solidFill>
              </a:rPr>
              <a:t>69%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43800" y="1627632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16304F"/>
          </a:solidFill>
          <a:ln w="12700">
            <a:solidFill>
              <a:srgbClr val="1630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82128" y="1938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Reading the signal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82128" y="2423160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E8F0"/>
                </a:solidFill>
              </a:rPr>
              <a:t>It is difficult to reduce the workplace disconnect to a simple lack of interest in growth.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882128" y="3447288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8D7E5"/>
                </a:solidFill>
              </a:rPr>
              <a:t>The published South African figures show very high value placed on structured learning, practical learning, mentorship and feedback.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713232" y="4828032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E7F5F3"/>
          </a:solidFill>
          <a:ln w="12700">
            <a:solidFill>
              <a:srgbClr val="D4EB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507492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5C59"/>
                </a:solidFill>
              </a:rPr>
              <a:t>Management question: Are expectations, learning opportunities and feedback clear enough for early-career employees to know what good performance looks like?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0352" y="6473952"/>
            <a:ext cx="10652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7B8794"/>
                </a:solidFill>
              </a:rPr>
              <a:t>Deloitte South Africa · https://www.linkedin.com/posts/deloitte_careergrowth-genz-millennials-activity-7346447611979071489-KPCC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7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Employer concerns are also visible in the survey data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586"/>
                </a:solidFill>
              </a:rPr>
              <a:t>Intelligent.com survey of 966 business leaders involved in entry-level hiring, August 2024.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1627632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173"/>
                </a:solidFill>
              </a:rPr>
              <a:t>Lack of motivation / initiative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862072" y="1655064"/>
            <a:ext cx="3703320" cy="164592"/>
          </a:xfrm>
          <a:prstGeom prst="roundRect">
            <a:avLst>
              <a:gd name="adj" fmla="val 27778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1655064"/>
            <a:ext cx="1851660" cy="164592"/>
          </a:xfrm>
          <a:prstGeom prst="roundRect">
            <a:avLst>
              <a:gd name="adj" fmla="val 27778"/>
            </a:avLst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38544" y="16093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73B"/>
                </a:solidFill>
              </a:rPr>
              <a:t>50%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206654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173"/>
                </a:solidFill>
              </a:rPr>
              <a:t>Lack of professionalism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62072" y="2093976"/>
            <a:ext cx="3703320" cy="164592"/>
          </a:xfrm>
          <a:prstGeom prst="roundRect">
            <a:avLst>
              <a:gd name="adj" fmla="val 27778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62072" y="2093976"/>
            <a:ext cx="1703527" cy="164592"/>
          </a:xfrm>
          <a:prstGeom prst="roundRect">
            <a:avLst>
              <a:gd name="adj" fmla="val 27778"/>
            </a:avLst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38544" y="204825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73B"/>
                </a:solidFill>
              </a:rPr>
              <a:t>46%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2505456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173"/>
                </a:solidFill>
              </a:rPr>
              <a:t>Poor communication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62072" y="2532888"/>
            <a:ext cx="3703320" cy="164592"/>
          </a:xfrm>
          <a:prstGeom prst="roundRect">
            <a:avLst>
              <a:gd name="adj" fmla="val 27778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62072" y="2532888"/>
            <a:ext cx="1444295" cy="164592"/>
          </a:xfrm>
          <a:prstGeom prst="roundRect">
            <a:avLst>
              <a:gd name="adj" fmla="val 27778"/>
            </a:avLst>
          </a:prstGeom>
          <a:solidFill>
            <a:srgbClr val="4F80C2"/>
          </a:solidFill>
          <a:ln w="12700">
            <a:solidFill>
              <a:srgbClr val="4F80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38544" y="24871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73B"/>
                </a:solidFill>
              </a:rPr>
              <a:t>39%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" y="2944368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173"/>
                </a:solidFill>
              </a:rPr>
              <a:t>Struggles with feedback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62072" y="2971800"/>
            <a:ext cx="3703320" cy="164592"/>
          </a:xfrm>
          <a:prstGeom prst="roundRect">
            <a:avLst>
              <a:gd name="adj" fmla="val 27778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62072" y="2971800"/>
            <a:ext cx="1407262" cy="164592"/>
          </a:xfrm>
          <a:prstGeom prst="roundRect">
            <a:avLst>
              <a:gd name="adj" fmla="val 27778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8544" y="2926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73B"/>
                </a:solidFill>
              </a:rPr>
              <a:t>38%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" y="3383280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173"/>
                </a:solidFill>
              </a:rPr>
              <a:t>Problem-solving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62072" y="3410712"/>
            <a:ext cx="3703320" cy="164592"/>
          </a:xfrm>
          <a:prstGeom prst="roundRect">
            <a:avLst>
              <a:gd name="adj" fmla="val 27778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62072" y="3410712"/>
            <a:ext cx="1259129" cy="164592"/>
          </a:xfrm>
          <a:prstGeom prst="roundRect">
            <a:avLst>
              <a:gd name="adj" fmla="val 27778"/>
            </a:avLst>
          </a:prstGeom>
          <a:solidFill>
            <a:srgbClr val="1FA7A5"/>
          </a:solidFill>
          <a:ln w="12700">
            <a:solidFill>
              <a:srgbClr val="1FA7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38544" y="33649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73B"/>
                </a:solidFill>
              </a:rPr>
              <a:t>34%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26680" y="1627632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E2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27848" y="1828800"/>
            <a:ext cx="100584" cy="100584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17830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697586"/>
                </a:solidFill>
              </a:rPr>
              <a:t>EMPLOYER SURVEY · 2024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927848" y="2066544"/>
            <a:ext cx="2752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6B5B"/>
                </a:solidFill>
              </a:rPr>
              <a:t>75%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927848" y="2569464"/>
            <a:ext cx="2752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73B"/>
                </a:solidFill>
              </a:rPr>
              <a:t>Said some or all recent graduate hires were unsatisfactory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7726680" y="3273552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E2E6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27848" y="3474720"/>
            <a:ext cx="100584" cy="100584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2440" y="34290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697586"/>
                </a:solidFill>
              </a:rPr>
              <a:t>EMPLOYER SURVEY · 2024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927848" y="3712464"/>
            <a:ext cx="2752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4D"/>
                </a:solidFill>
              </a:rPr>
              <a:t>60%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927848" y="4215384"/>
            <a:ext cx="2752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73B"/>
                </a:solidFill>
              </a:rPr>
              <a:t>Reported some recent graduate hires were fired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731520" y="4736592"/>
            <a:ext cx="10149840" cy="822960"/>
          </a:xfrm>
          <a:prstGeom prst="roundRect">
            <a:avLst>
              <a:gd name="adj" fmla="val 8889"/>
            </a:avLst>
          </a:prstGeom>
          <a:solidFill>
            <a:srgbClr val="F2F4F6"/>
          </a:solidFill>
          <a:ln w="12700">
            <a:solidFill>
              <a:srgbClr val="DFE4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" y="4992624"/>
            <a:ext cx="9646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B596A"/>
                </a:solidFill>
              </a:rPr>
              <a:t>These are employer-reported perceptions and outcomes from this survey. They should not be treated as a South African Gen Z prevalence estimate.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0352" y="6473952"/>
            <a:ext cx="10652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7B8794"/>
                </a:solidFill>
              </a:rPr>
              <a:t>Intelligent.com · https://www.intelligent.com/1-in-6-companies-are-hesitant-to-hire-recent-college-graduates/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7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Career ambition does not always mean chasing the next title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586"/>
                </a:solidFill>
              </a:rPr>
              <a:t>Global Gen Z findings from Deloitte 2025 and 2026.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73B"/>
                </a:solidFill>
              </a:rPr>
              <a:t>Career progression preference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1956816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173"/>
                </a:solidFill>
              </a:rPr>
              <a:t>Steady progress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862072" y="1984248"/>
            <a:ext cx="2514600" cy="164592"/>
          </a:xfrm>
          <a:prstGeom prst="roundRect">
            <a:avLst>
              <a:gd name="adj" fmla="val 27778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62072" y="1984248"/>
            <a:ext cx="1106424" cy="164592"/>
          </a:xfrm>
          <a:prstGeom prst="roundRect">
            <a:avLst>
              <a:gd name="adj" fmla="val 27778"/>
            </a:avLst>
          </a:prstGeom>
          <a:solidFill>
            <a:srgbClr val="16304F"/>
          </a:solidFill>
          <a:ln w="12700">
            <a:solidFill>
              <a:srgbClr val="1630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49824" y="1938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73B"/>
                </a:solidFill>
              </a:rPr>
              <a:t>44%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2395728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173"/>
                </a:solidFill>
              </a:rPr>
              <a:t>Rapid promotions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62072" y="2423160"/>
            <a:ext cx="2514600" cy="164592"/>
          </a:xfrm>
          <a:prstGeom prst="roundRect">
            <a:avLst>
              <a:gd name="adj" fmla="val 27778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62072" y="2423160"/>
            <a:ext cx="628650" cy="164592"/>
          </a:xfrm>
          <a:prstGeom prst="roundRect">
            <a:avLst>
              <a:gd name="adj" fmla="val 27778"/>
            </a:avLst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9824" y="23774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73B"/>
                </a:solidFill>
              </a:rPr>
              <a:t>25%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2834640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173"/>
                </a:solidFill>
              </a:rPr>
              <a:t>Lateral move / step back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62072" y="2862072"/>
            <a:ext cx="2514600" cy="164592"/>
          </a:xfrm>
          <a:prstGeom prst="roundRect">
            <a:avLst>
              <a:gd name="adj" fmla="val 27778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62072" y="2862072"/>
            <a:ext cx="528066" cy="164592"/>
          </a:xfrm>
          <a:prstGeom prst="roundRect">
            <a:avLst>
              <a:gd name="adj" fmla="val 27778"/>
            </a:avLst>
          </a:prstGeom>
          <a:solidFill>
            <a:srgbClr val="1FA7A5"/>
          </a:solidFill>
          <a:ln w="12700">
            <a:solidFill>
              <a:srgbClr val="1FA7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28163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73B"/>
                </a:solidFill>
              </a:rPr>
              <a:t>21%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55080" y="1554480"/>
            <a:ext cx="4846320" cy="2240280"/>
          </a:xfrm>
          <a:prstGeom prst="roundRect">
            <a:avLst>
              <a:gd name="adj" fmla="val 4082"/>
            </a:avLst>
          </a:prstGeom>
          <a:solidFill>
            <a:srgbClr val="E7F5F3"/>
          </a:solidFill>
          <a:ln w="12700">
            <a:solidFill>
              <a:srgbClr val="D4EB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1865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5C59"/>
                </a:solidFill>
              </a:rPr>
              <a:t>Manager development gap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93408" y="230428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A7A5"/>
                </a:solidFill>
              </a:rPr>
              <a:t>50%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7754112" y="23957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5F5C"/>
                </a:solidFill>
              </a:rPr>
              <a:t>want managers to teach and mentor them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93408" y="288950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04F"/>
                </a:solidFill>
              </a:rPr>
              <a:t>36%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7754112" y="29809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5F5C"/>
                </a:solidFill>
              </a:rPr>
              <a:t>say this happens in practice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93408" y="34564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716F"/>
                </a:solidFill>
              </a:rPr>
              <a:t>14 percentage-point gap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" y="425196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0E8"/>
          </a:solidFill>
          <a:ln w="12700">
            <a:solidFill>
              <a:srgbClr val="F4D8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48970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6B5B"/>
                </a:solidFill>
              </a:rPr>
              <a:t>55%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1828800" y="44897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744A3E"/>
                </a:solidFill>
              </a:rPr>
              <a:t>delayed major life decisions because of finances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4187952" y="425196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EAF0F5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43984" y="448970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F80C2"/>
                </a:solidFill>
              </a:rPr>
              <a:t>69%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5321808" y="44897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40566D"/>
                </a:solidFill>
              </a:rPr>
              <a:t>say housing affordability affects career decisions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680960" y="425196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2F0FF"/>
          </a:solidFill>
          <a:ln w="12700">
            <a:solidFill>
              <a:srgbClr val="DED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36992" y="448970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C63FF"/>
                </a:solidFill>
              </a:rPr>
              <a:t>44%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8814816" y="44897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04A76"/>
                </a:solidFill>
              </a:rPr>
              <a:t>prefer steady career progress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530352" y="6473952"/>
            <a:ext cx="10652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7B8794"/>
                </a:solidFill>
              </a:rPr>
              <a:t>Deloitte Global 2026 and 2025 · https://www.deloitte.com/global/en/issues/work/genz-millennial-survey.html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7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useful management response is measurable, not generational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586"/>
                </a:solidFill>
              </a:rPr>
              <a:t>The evidence suggests areas to test internally rather than assumptions to make about every young employee.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3232" y="1517904"/>
            <a:ext cx="10469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64208"/>
            <a:ext cx="365760" cy="365760"/>
          </a:xfrm>
          <a:prstGeom prst="ellipse">
            <a:avLst/>
          </a:prstGeom>
          <a:solidFill>
            <a:srgbClr val="1FA7A5"/>
          </a:solidFill>
          <a:ln w="12700">
            <a:solidFill>
              <a:srgbClr val="1FA7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278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44752" y="16550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73B"/>
                </a:solidFill>
              </a:rPr>
              <a:t>Clarify expectations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1627632"/>
            <a:ext cx="7150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3"/>
                </a:solidFill>
              </a:rPr>
              <a:t>State what good performance looks like, where initiative is expected and when approval is required.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2368296"/>
            <a:ext cx="10469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14600"/>
            <a:ext cx="365760" cy="365760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8318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44752" y="25054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73B"/>
                </a:solidFill>
              </a:rPr>
              <a:t>Strengthen onboarding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478024"/>
            <a:ext cx="7150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3"/>
                </a:solidFill>
              </a:rPr>
              <a:t>Build professional norms, communication expectations and practical work examples into the first weeks.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" y="3218688"/>
            <a:ext cx="10469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364992"/>
            <a:ext cx="365760" cy="36576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3357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44752" y="33558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73B"/>
                </a:solidFill>
              </a:rPr>
              <a:t>Increase feedback cadence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3328416"/>
            <a:ext cx="7150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3"/>
                </a:solidFill>
              </a:rPr>
              <a:t>Use short, specific feedback loops instead of waiting for formal performance reviews.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" y="4069080"/>
            <a:ext cx="10469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215384"/>
            <a:ext cx="365760" cy="365760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8396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44752" y="4206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73B"/>
                </a:solidFill>
              </a:rPr>
              <a:t>Create visible development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4178808"/>
            <a:ext cx="7150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3"/>
                </a:solidFill>
              </a:rPr>
              <a:t>Use mentoring, on-the-job learning and clear skill pathways alongside promotion opportunities.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" y="4919472"/>
            <a:ext cx="10469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065776"/>
            <a:ext cx="365760" cy="365760"/>
          </a:xfrm>
          <a:prstGeom prst="ellipse">
            <a:avLst/>
          </a:prstGeom>
          <a:solidFill>
            <a:srgbClr val="16304F"/>
          </a:solidFill>
          <a:ln w="12700">
            <a:solidFill>
              <a:srgbClr val="1630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134356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44752" y="5056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73B"/>
                </a:solidFill>
              </a:rPr>
              <a:t>Measure the outcome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0" y="5029200"/>
            <a:ext cx="7150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3"/>
                </a:solidFill>
              </a:rPr>
              <a:t>Track early-tenure exits, performance issues, feedback quality, learning participation and internal movement.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144768"/>
            <a:ext cx="11018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97586"/>
                </a:solidFill>
              </a:rPr>
              <a:t>These are management actions suggested by the evidence review. They are not presented as proven causal interventions.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0352" y="6473952"/>
            <a:ext cx="10652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7B8794"/>
                </a:solidFill>
              </a:rPr>
              <a:t>Interpretation based on the sourced evidence in the workbook and the IOL Cape Argus starting brief.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7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register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586"/>
                </a:solidFill>
              </a:rPr>
              <a:t>Every number shown in the analysis can be traced back to a published source.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444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273B"/>
                </a:solidFill>
              </a:rPr>
              <a:t>Starting brief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2606040" y="1444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E5D6F"/>
                </a:solidFill>
              </a:rPr>
              <a:t>IOL Cape Argus · 24 Jun 2026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5806440" y="14447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436B92"/>
                </a:solidFill>
              </a:rPr>
              <a:t>iol.co.za/capeargus/opinion/2026-06-24-understanding-the-disconnect-why-employers-are-firing-gen-z-employees/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685800" y="1856232"/>
            <a:ext cx="10698480" cy="0"/>
          </a:xfrm>
          <a:prstGeom prst="line">
            <a:avLst/>
          </a:prstGeom>
          <a:noFill/>
          <a:ln w="6350">
            <a:solidFill>
              <a:srgbClr val="E7E9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273B"/>
                </a:solidFill>
              </a:rPr>
              <a:t>South Africa labour market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2606040" y="2103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E5D6F"/>
                </a:solidFill>
              </a:rPr>
              <a:t>Statistics South Africa · Q1 2026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806440" y="21031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436B92"/>
                </a:solidFill>
              </a:rPr>
              <a:t>statssa.gov.za/?p=19526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685800" y="2514600"/>
            <a:ext cx="10698480" cy="0"/>
          </a:xfrm>
          <a:prstGeom prst="line">
            <a:avLst/>
          </a:prstGeom>
          <a:noFill/>
          <a:ln w="6350">
            <a:solidFill>
              <a:srgbClr val="E7E9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61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273B"/>
                </a:solidFill>
              </a:rPr>
              <a:t>South Africa Gen Z development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2606040" y="27614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E5D6F"/>
                </a:solidFill>
              </a:rPr>
              <a:t>Deloitte South Africa · 2025 findings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5806440" y="276148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436B92"/>
                </a:solidFill>
              </a:rPr>
              <a:t>linkedin.com/posts/deloitte_careergrowth-genz-millennials-activity-7346447611979071489-KPCC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685800" y="3172968"/>
            <a:ext cx="10698480" cy="0"/>
          </a:xfrm>
          <a:prstGeom prst="line">
            <a:avLst/>
          </a:prstGeom>
          <a:noFill/>
          <a:ln w="6350">
            <a:solidFill>
              <a:srgbClr val="E7E9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198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273B"/>
                </a:solidFill>
              </a:rPr>
              <a:t>Global Gen Z 2026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2606040" y="34198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E5D6F"/>
                </a:solidFill>
              </a:rPr>
              <a:t>Deloitte Global Gen Z &amp; Millennial Survey 2026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806440" y="34198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436B92"/>
                </a:solidFill>
              </a:rPr>
              <a:t>deloitte.com/global/en/about/press-room/deloitte-2026-gen-z-and-millennial-survey.html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685800" y="3831336"/>
            <a:ext cx="10698480" cy="0"/>
          </a:xfrm>
          <a:prstGeom prst="line">
            <a:avLst/>
          </a:prstGeom>
          <a:noFill/>
          <a:ln w="6350">
            <a:solidFill>
              <a:srgbClr val="E7E9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0782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273B"/>
                </a:solidFill>
              </a:rPr>
              <a:t>Global Gen Z 2025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2606040" y="40782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E5D6F"/>
                </a:solidFill>
              </a:rPr>
              <a:t>Deloitte Global Gen Z &amp; Millennial Survey 2025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5806440" y="407822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436B92"/>
                </a:solidFill>
              </a:rPr>
              <a:t>deloitte.com/global/en/about/press-room/deloitte-2025-gen-z-and-millennial-survey.html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685800" y="4489704"/>
            <a:ext cx="10698480" cy="0"/>
          </a:xfrm>
          <a:prstGeom prst="line">
            <a:avLst/>
          </a:prstGeom>
          <a:noFill/>
          <a:ln w="6350">
            <a:solidFill>
              <a:srgbClr val="E7E9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736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273B"/>
                </a:solidFill>
              </a:rPr>
              <a:t>Employer survey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606040" y="4736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E5D6F"/>
                </a:solidFill>
              </a:rPr>
              <a:t>Intelligent.com · Aug 2024 · n=966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5806440" y="473659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436B92"/>
                </a:solidFill>
              </a:rPr>
              <a:t>intelligent.com/1-in-6-companies-are-hesitant-to-hire-recent-college-graduates/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685800" y="5148072"/>
            <a:ext cx="10698480" cy="0"/>
          </a:xfrm>
          <a:prstGeom prst="line">
            <a:avLst/>
          </a:prstGeom>
          <a:noFill/>
          <a:ln w="6350">
            <a:solidFill>
              <a:srgbClr val="E7E9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394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273B"/>
                </a:solidFill>
              </a:rPr>
              <a:t>Province context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2606040" y="5394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E5D6F"/>
                </a:solidFill>
              </a:rPr>
              <a:t>Bizcommunity summary of Stats SA QLFS · Q1 2025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806440" y="53949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436B92"/>
                </a:solidFill>
              </a:rPr>
              <a:t>bizcommunity.com/article/unemployment-climbs-to-329-in-2025-q1-473939a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685800" y="5806440"/>
            <a:ext cx="10698480" cy="0"/>
          </a:xfrm>
          <a:prstGeom prst="line">
            <a:avLst/>
          </a:prstGeom>
          <a:noFill/>
          <a:ln w="6350">
            <a:solidFill>
              <a:srgbClr val="E7E9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6062472"/>
            <a:ext cx="10698480" cy="347472"/>
          </a:xfrm>
          <a:prstGeom prst="roundRect">
            <a:avLst>
              <a:gd name="adj" fmla="val 13158"/>
            </a:avLst>
          </a:prstGeom>
          <a:solidFill>
            <a:srgbClr val="EAF0F5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6163056"/>
            <a:ext cx="10241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0566D"/>
                </a:solidFill>
              </a:rPr>
              <a:t>The Excel workbook includes the metric table, population, geography, period, source name and full URL for auditability.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Z Workplace Retention Evidence Review</dc:title>
  <dc:subject>Gen Z workplace retention evidence review</dc:subject>
  <dc:creator>Sphamandla Nkosi</dc:creator>
  <cp:lastModifiedBy>Sphamandla Nkosi</cp:lastModifiedBy>
  <cp:revision>1</cp:revision>
  <dcterms:created xsi:type="dcterms:W3CDTF">2026-09-25T15:06:10Z</dcterms:created>
  <dcterms:modified xsi:type="dcterms:W3CDTF">2026-09-25T15:06:10Z</dcterms:modified>
</cp:coreProperties>
</file>